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Document Intelligence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1168" y="4572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8BA3C1"/>
                </a:solidFill>
              </a:rPr>
              <a:t>Pantheon AI Product Squad  ·  Open-Source RAG Architecture  ·  100% Free &amp; Local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406640" y="146304"/>
            <a:ext cx="1554480" cy="237744"/>
          </a:xfrm>
          <a:prstGeom prst="rect">
            <a:avLst/>
          </a:prstGeom>
          <a:solidFill>
            <a:srgbClr val="00C2CB">
              <a:alpha val="18000"/>
            </a:srgbClr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46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CB"/>
                </a:solidFill>
              </a:rPr>
              <a:t>Free · Local · No API Key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444752" y="1696212"/>
            <a:ext cx="128016" cy="0"/>
          </a:xfrm>
          <a:prstGeom prst="line">
            <a:avLst/>
          </a:prstGeom>
          <a:noFill/>
          <a:ln w="19050">
            <a:solidFill>
              <a:srgbClr val="2A4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63624" y="1696212"/>
            <a:ext cx="914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open"/>
          </a:ln>
        </p:spPr>
      </p:sp>
      <p:sp>
        <p:nvSpPr>
          <p:cNvPr id="8" name="Shape 6"/>
          <p:cNvSpPr/>
          <p:nvPr/>
        </p:nvSpPr>
        <p:spPr>
          <a:xfrm>
            <a:off x="2834640" y="1696212"/>
            <a:ext cx="128016" cy="0"/>
          </a:xfrm>
          <a:prstGeom prst="line">
            <a:avLst/>
          </a:prstGeom>
          <a:noFill/>
          <a:ln w="19050">
            <a:solidFill>
              <a:srgbClr val="2A4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3512" y="1696212"/>
            <a:ext cx="914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4224528" y="1696212"/>
            <a:ext cx="128016" cy="0"/>
          </a:xfrm>
          <a:prstGeom prst="line">
            <a:avLst/>
          </a:prstGeom>
          <a:noFill/>
          <a:ln w="19050">
            <a:solidFill>
              <a:srgbClr val="2A4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696212"/>
            <a:ext cx="914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5614416" y="1696212"/>
            <a:ext cx="128016" cy="0"/>
          </a:xfrm>
          <a:prstGeom prst="line">
            <a:avLst/>
          </a:prstGeom>
          <a:noFill/>
          <a:ln w="19050">
            <a:solidFill>
              <a:srgbClr val="2A4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33288" y="1696212"/>
            <a:ext cx="914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7004304" y="1696212"/>
            <a:ext cx="128016" cy="0"/>
          </a:xfrm>
          <a:prstGeom prst="line">
            <a:avLst/>
          </a:prstGeom>
          <a:noFill/>
          <a:ln w="19050">
            <a:solidFill>
              <a:srgbClr val="2A4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1696212"/>
            <a:ext cx="9144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201168" y="804672"/>
            <a:ext cx="1225296" cy="178308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804672"/>
            <a:ext cx="1225296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C2CB"/>
                </a:solidFill>
              </a:rPr>
              <a:t>INPUT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7744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Documents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SEC Filings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Fund Reports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DD Memos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Market Commentary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Synthetic docs OK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591056" y="804672"/>
            <a:ext cx="1225296" cy="178308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91056" y="804672"/>
            <a:ext cx="1225296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27632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C2CB"/>
                </a:solidFill>
              </a:rPr>
              <a:t>INGESTION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27632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Parse &amp; Embed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45920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PyMuPDF (fitz)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Sentence-aware chunks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800-char sliding window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all-MiniLM-L6-v2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Batch upsert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80944" y="804672"/>
            <a:ext cx="1225296" cy="1783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80944" y="804672"/>
            <a:ext cx="1225296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F80ED"/>
                </a:solidFill>
              </a:rPr>
              <a:t>VECTOR STORE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017520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ChromaDB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35808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Cosine similarity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Persistent / local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Metadata filters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Hybrid BM25 + sem.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Azure AI Search alt.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70832" y="804672"/>
            <a:ext cx="1225296" cy="178308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70832" y="804672"/>
            <a:ext cx="1225296" cy="54864"/>
          </a:xfrm>
          <a:prstGeom prst="rect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B51E0"/>
                </a:solidFill>
              </a:rPr>
              <a:t>AGENTIC ROUTER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07408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Classifier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25696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Factual · Comparison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Summary · Temporal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Out-of-scope guard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Zero-shot LLM call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Structured JSON out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60720" y="804672"/>
            <a:ext cx="1225296" cy="178308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804672"/>
            <a:ext cx="1225296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97296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F80ED"/>
                </a:solidFill>
              </a:rPr>
              <a:t>LLM — FREE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797296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Ollama · Llama 3.1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15584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8B params · CPU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~2–4s latency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No API key needed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Azure OpenAI alt.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Databricks FM API alt.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150608" y="804672"/>
            <a:ext cx="1225296" cy="1783080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0608" y="804672"/>
            <a:ext cx="1225296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8961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7AE60"/>
                </a:solidFill>
              </a:rPr>
              <a:t>OUTPUT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7184" y="1106424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Structured Response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05472" y="1463040"/>
            <a:ext cx="11155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Pydantic model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Citations + verified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Confidence: H/M/L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Human-review flag</a:t>
            </a:r>
            <a:endParaRPr lang="en-US" sz="7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Hallucination guard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715768"/>
            <a:ext cx="8174736" cy="0"/>
          </a:xfrm>
          <a:prstGeom prst="line">
            <a:avLst/>
          </a:prstGeom>
          <a:noFill/>
          <a:ln w="7620">
            <a:solidFill>
              <a:srgbClr val="2A4E7A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>
            <a:off x="210312" y="2788920"/>
            <a:ext cx="2651760" cy="2061972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10312" y="2788920"/>
            <a:ext cx="265176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28803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 — Streamlit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0896" y="3154680"/>
            <a:ext cx="2505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Chat interface · Upload PDFs · Session stats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Chunk debug panel · Confidence badges · Latency display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935224" y="2788920"/>
            <a:ext cx="2651760" cy="2061972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935224" y="2788920"/>
            <a:ext cx="265176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35808" y="28803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Observability — MLflow + structlog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035808" y="3154680"/>
            <a:ext cx="2505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Latency p50/p99 · Token usage · Citation accuracy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Hallucination rate · Human-review count · Cost tracking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660136" y="2788920"/>
            <a:ext cx="2651760" cy="2061972"/>
          </a:xfrm>
          <a:prstGeom prst="rect">
            <a:avLst/>
          </a:prstGeom>
          <a:solidFill>
            <a:srgbClr val="162D52"/>
          </a:solidFill>
          <a:ln w="12700">
            <a:solidFill>
              <a:srgbClr val="162D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60136" y="2788920"/>
            <a:ext cx="2651760" cy="54864"/>
          </a:xfrm>
          <a:prstGeom prst="rect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8803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 — Gold Set + LLM-Judge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60720" y="3154680"/>
            <a:ext cx="2505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7 Q&amp;A gold pairs · Citation precision · Hallucination rate</a:t>
            </a:r>
            <a:endParaRPr lang="en-US" sz="7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50" dirty="0">
                <a:solidFill>
                  <a:srgbClr val="8BA3C1"/>
                </a:solidFill>
              </a:rPr>
              <a:t>Out-of-scope refusal accuracy · GitHub Actions CI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01168" y="4905756"/>
            <a:ext cx="8741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A4E7A"/>
                </a:solidFill>
              </a:rPr>
              <a:t>Python · PyMuPDF · sentence-transformers (all-MiniLM-L6-v2) · ChromaDB · Ollama · LangChain · Streamlit · MLflow  |  All open-source, all free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Pantheon Document Intelligence — Architecture</dc:title>
  <dc:subject>PptxGenJS Presentation</dc:subject>
  <dc:creator>PptxGenJS</dc:creator>
  <cp:lastModifiedBy>PptxGenJS</cp:lastModifiedBy>
  <cp:revision>1</cp:revision>
  <dcterms:created xsi:type="dcterms:W3CDTF">2026-03-12T20:02:04Z</dcterms:created>
  <dcterms:modified xsi:type="dcterms:W3CDTF">2026-03-12T20:02:04Z</dcterms:modified>
</cp:coreProperties>
</file>